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7" r:id="rId4"/>
    <p:sldId id="259" r:id="rId5"/>
    <p:sldId id="263" r:id="rId6"/>
    <p:sldId id="261" r:id="rId7"/>
    <p:sldId id="264" r:id="rId8"/>
    <p:sldId id="265" r:id="rId9"/>
    <p:sldId id="266" r:id="rId10"/>
    <p:sldId id="269" r:id="rId11"/>
    <p:sldId id="275" r:id="rId12"/>
    <p:sldId id="270" r:id="rId13"/>
    <p:sldId id="271" r:id="rId14"/>
    <p:sldId id="273" r:id="rId15"/>
    <p:sldId id="260" r:id="rId16"/>
    <p:sldId id="279" r:id="rId17"/>
    <p:sldId id="262" r:id="rId18"/>
    <p:sldId id="268" r:id="rId19"/>
    <p:sldId id="274" r:id="rId2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QlFP+AqNWQZWCnl9ubS4Vg9m4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569DC-0A16-4E73-858C-C5984446A80A}" v="19" dt="2025-11-27T10:49:53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Quevedo" userId="a994d1948c4ae27d" providerId="LiveId" clId="{A207C704-F497-4574-8220-E39D0275FC7F}"/>
    <pc:docChg chg="modSld sldOrd">
      <pc:chgData name="Felipe Quevedo" userId="a994d1948c4ae27d" providerId="LiveId" clId="{A207C704-F497-4574-8220-E39D0275FC7F}" dt="2025-11-27T12:27:52.133" v="47" actId="1076"/>
      <pc:docMkLst>
        <pc:docMk/>
      </pc:docMkLst>
      <pc:sldChg chg="modSp mod">
        <pc:chgData name="Felipe Quevedo" userId="a994d1948c4ae27d" providerId="LiveId" clId="{A207C704-F497-4574-8220-E39D0275FC7F}" dt="2025-11-27T10:35:21.922" v="0" actId="20577"/>
        <pc:sldMkLst>
          <pc:docMk/>
          <pc:sldMk cId="489032403" sldId="261"/>
        </pc:sldMkLst>
        <pc:spChg chg="mod">
          <ac:chgData name="Felipe Quevedo" userId="a994d1948c4ae27d" providerId="LiveId" clId="{A207C704-F497-4574-8220-E39D0275FC7F}" dt="2025-11-27T10:35:21.922" v="0" actId="20577"/>
          <ac:spMkLst>
            <pc:docMk/>
            <pc:sldMk cId="489032403" sldId="261"/>
            <ac:spMk id="8" creationId="{24FEA1BD-FC6D-BDD5-A41D-58A9FEF0069F}"/>
          </ac:spMkLst>
        </pc:spChg>
      </pc:sldChg>
      <pc:sldChg chg="ord">
        <pc:chgData name="Felipe Quevedo" userId="a994d1948c4ae27d" providerId="LiveId" clId="{A207C704-F497-4574-8220-E39D0275FC7F}" dt="2025-11-27T12:12:09.168" v="40"/>
        <pc:sldMkLst>
          <pc:docMk/>
          <pc:sldMk cId="2698984090" sldId="262"/>
        </pc:sldMkLst>
      </pc:sldChg>
      <pc:sldChg chg="modSp mod">
        <pc:chgData name="Felipe Quevedo" userId="a994d1948c4ae27d" providerId="LiveId" clId="{A207C704-F497-4574-8220-E39D0275FC7F}" dt="2025-11-27T10:38:01.340" v="1" actId="20577"/>
        <pc:sldMkLst>
          <pc:docMk/>
          <pc:sldMk cId="1705135387" sldId="266"/>
        </pc:sldMkLst>
        <pc:spChg chg="mod">
          <ac:chgData name="Felipe Quevedo" userId="a994d1948c4ae27d" providerId="LiveId" clId="{A207C704-F497-4574-8220-E39D0275FC7F}" dt="2025-11-27T10:38:01.340" v="1" actId="20577"/>
          <ac:spMkLst>
            <pc:docMk/>
            <pc:sldMk cId="1705135387" sldId="266"/>
            <ac:spMk id="11" creationId="{C48ABF88-4BC3-1856-4E46-33D45544C5DA}"/>
          </ac:spMkLst>
        </pc:spChg>
      </pc:sldChg>
      <pc:sldChg chg="ord">
        <pc:chgData name="Felipe Quevedo" userId="a994d1948c4ae27d" providerId="LiveId" clId="{A207C704-F497-4574-8220-E39D0275FC7F}" dt="2025-11-27T12:11:31.426" v="38"/>
        <pc:sldMkLst>
          <pc:docMk/>
          <pc:sldMk cId="3250441014" sldId="268"/>
        </pc:sldMkLst>
      </pc:sldChg>
      <pc:sldChg chg="modSp mod">
        <pc:chgData name="Felipe Quevedo" userId="a994d1948c4ae27d" providerId="LiveId" clId="{A207C704-F497-4574-8220-E39D0275FC7F}" dt="2025-11-27T12:27:52.133" v="47" actId="1076"/>
        <pc:sldMkLst>
          <pc:docMk/>
          <pc:sldMk cId="90793423" sldId="273"/>
        </pc:sldMkLst>
        <pc:spChg chg="mod">
          <ac:chgData name="Felipe Quevedo" userId="a994d1948c4ae27d" providerId="LiveId" clId="{A207C704-F497-4574-8220-E39D0275FC7F}" dt="2025-11-27T12:27:52.133" v="47" actId="1076"/>
          <ac:spMkLst>
            <pc:docMk/>
            <pc:sldMk cId="90793423" sldId="273"/>
            <ac:spMk id="7" creationId="{A367D0DD-992C-326E-3635-DCB5A7891F19}"/>
          </ac:spMkLst>
        </pc:spChg>
      </pc:sldChg>
      <pc:sldChg chg="modSp ord">
        <pc:chgData name="Felipe Quevedo" userId="a994d1948c4ae27d" providerId="LiveId" clId="{A207C704-F497-4574-8220-E39D0275FC7F}" dt="2025-11-27T12:11:31.426" v="38"/>
        <pc:sldMkLst>
          <pc:docMk/>
          <pc:sldMk cId="2432192256" sldId="274"/>
        </pc:sldMkLst>
        <pc:spChg chg="mod">
          <ac:chgData name="Felipe Quevedo" userId="a994d1948c4ae27d" providerId="LiveId" clId="{A207C704-F497-4574-8220-E39D0275FC7F}" dt="2025-11-27T10:49:53.998" v="36"/>
          <ac:spMkLst>
            <pc:docMk/>
            <pc:sldMk cId="2432192256" sldId="274"/>
            <ac:spMk id="3" creationId="{C9FDEBCD-8CC1-6916-1319-4D7F1EBFF4B5}"/>
          </ac:spMkLst>
        </pc:spChg>
      </pc:sldChg>
      <pc:sldChg chg="modSp mod">
        <pc:chgData name="Felipe Quevedo" userId="a994d1948c4ae27d" providerId="LiveId" clId="{A207C704-F497-4574-8220-E39D0275FC7F}" dt="2025-11-27T10:41:22.363" v="20" actId="20577"/>
        <pc:sldMkLst>
          <pc:docMk/>
          <pc:sldMk cId="2281339925" sldId="275"/>
        </pc:sldMkLst>
        <pc:spChg chg="mod">
          <ac:chgData name="Felipe Quevedo" userId="a994d1948c4ae27d" providerId="LiveId" clId="{A207C704-F497-4574-8220-E39D0275FC7F}" dt="2025-11-27T10:41:22.363" v="20" actId="20577"/>
          <ac:spMkLst>
            <pc:docMk/>
            <pc:sldMk cId="2281339925" sldId="275"/>
            <ac:spMk id="4" creationId="{DF242FBE-AD84-3494-B023-510C1801A42D}"/>
          </ac:spMkLst>
        </pc:spChg>
        <pc:spChg chg="mod">
          <ac:chgData name="Felipe Quevedo" userId="a994d1948c4ae27d" providerId="LiveId" clId="{A207C704-F497-4574-8220-E39D0275FC7F}" dt="2025-11-27T10:41:02.317" v="19" actId="20577"/>
          <ac:spMkLst>
            <pc:docMk/>
            <pc:sldMk cId="2281339925" sldId="275"/>
            <ac:spMk id="8" creationId="{1849CFB4-D647-0843-8463-9CF71390CEDB}"/>
          </ac:spMkLst>
        </pc:spChg>
      </pc:sldChg>
      <pc:sldChg chg="ord">
        <pc:chgData name="Felipe Quevedo" userId="a994d1948c4ae27d" providerId="LiveId" clId="{A207C704-F497-4574-8220-E39D0275FC7F}" dt="2025-11-27T12:27:29.310" v="42"/>
        <pc:sldMkLst>
          <pc:docMk/>
          <pc:sldMk cId="3834695719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9075DCD-4308-C3D7-498F-D60ACA14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CC97DFB-77C1-1923-A988-F24EB5A5C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8F235709-3D3E-FEFB-DA60-FDD3D786B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5949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3BEFB59-8B84-B9D0-605D-73142AEF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4B8E434-798A-2373-FD8C-9E1B3F1E8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706F80F2-49A5-D113-662F-A1ADAE966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651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2AD5C7B-D1B9-8E9D-5400-0C03991A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1F8C9EA-1C73-4580-FCA2-2370796CB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33AD5330-53B0-27E7-ECA0-5B10BA8CE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4099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BF1A77-A983-8EED-9EAB-3C132EE4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96982F5-2308-5216-63E9-01049D775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6C602128-3CA1-3109-1411-7BCDC154D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1972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4990B95-7FC5-D693-04FE-09E713F11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184F63D-84ED-4EE1-3275-38E6004C9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F53929CF-0D83-A636-4E3A-1C46FEF1F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168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0904DE1-4D80-1074-0DA0-C04E87A5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1F0138A4-A0C3-5DE6-8D10-B4FEFACD8B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0F102DBB-D644-500A-CFFA-7F5FC8A4F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8121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9C699244-E918-A9B2-0D67-F2FDA6A4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6B829D7F-466C-05AA-922E-51C9B12483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8B457BE2-D64A-3EDB-E490-2215C0699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565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D7449186-C26D-C81D-C7F5-4485717D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95D9BF40-C924-0999-3A59-7C1096024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95E74713-B6C7-7B21-AC02-9FA457C28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0830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FE3757E-10C3-2043-9583-BF3A90B5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298EEF9E-FA76-A602-C9DF-BFAA0F840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C65C6F24-9C26-7968-16DB-E170F24F67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1766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3F710CC0-424F-C467-3480-8A346B020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045762E9-0B0A-C210-8FE3-00939F704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54A98CB4-A416-778D-7B46-29074E678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7379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B670426-7292-5D6F-1EAA-18180A72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C4AED96B-6CCE-3A82-79D9-E70E3C92E7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349BAFBB-C903-525C-4675-F2E179899E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55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61FDA44D-A56B-CC6E-9DD9-3A8BA366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3E771476-EF0F-54D0-3BA6-A79719E58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7674D45-51A9-501A-B449-56FA00E09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337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2D45A879-B56D-55E1-124D-5B89090D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C77B2711-4E0E-EE05-9730-619B7EAC3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FD12D307-EFFA-1FA7-06A0-8B50A1C0E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2813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7BFBD04-B1C8-B640-DDAE-C0EC10B78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0C350618-A917-A2C4-F1B5-0BC8EF894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FAB562B5-AD01-115E-F349-E32381856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895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microsoft.com/office/2007/relationships/hdphoto" Target="../media/hdphoto3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microsoft.com/office/2007/relationships/hdphoto" Target="../media/hdphoto2.wdp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4790888" y="8724813"/>
            <a:ext cx="2468412" cy="723987"/>
          </a:xfrm>
          <a:custGeom>
            <a:avLst/>
            <a:gdLst/>
            <a:ahLst/>
            <a:cxnLst/>
            <a:rect l="l" t="t" r="r" b="b"/>
            <a:pathLst>
              <a:path w="2468412" h="723987" extrusionOk="0">
                <a:moveTo>
                  <a:pt x="0" y="0"/>
                </a:moveTo>
                <a:lnTo>
                  <a:pt x="2468412" y="0"/>
                </a:lnTo>
                <a:lnTo>
                  <a:pt x="2468412" y="723987"/>
                </a:lnTo>
                <a:lnTo>
                  <a:pt x="0" y="72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0008" t="-109218" r="-11577" b="-158212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" name="Google Shape;90;p1"/>
          <p:cNvSpPr txBox="1"/>
          <p:nvPr/>
        </p:nvSpPr>
        <p:spPr>
          <a:xfrm>
            <a:off x="6928204" y="649640"/>
            <a:ext cx="1094831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Pressure anisotropy on twin tunnel linings induced by a transverse gallery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construction using time-dependent constitutive models</a:t>
            </a:r>
            <a:endParaRPr sz="700" b="1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6928204" y="5143500"/>
            <a:ext cx="4793946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rgbClr val="1970A0"/>
                </a:solidFill>
              </a:rPr>
              <a:t>Bianca M. Girardi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rgbClr val="1970A0"/>
                </a:solidFill>
              </a:rPr>
              <a:t>Felipe P. M. Quevedo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rgbClr val="1970A0"/>
                </a:solidFill>
              </a:rPr>
              <a:t>Samir Maghous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84BEA437-9190-3EB0-941A-242411FB89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2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6" name="Google Shape;103;p2">
            <a:extLst>
              <a:ext uri="{FF2B5EF4-FFF2-40B4-BE49-F238E27FC236}">
                <a16:creationId xmlns:a16="http://schemas.microsoft.com/office/drawing/2014/main" id="{404938AB-63CF-556A-B331-E0D1C7C53D85}"/>
              </a:ext>
            </a:extLst>
          </p:cNvPr>
          <p:cNvSpPr txBox="1"/>
          <p:nvPr/>
        </p:nvSpPr>
        <p:spPr>
          <a:xfrm>
            <a:off x="1028700" y="631768"/>
            <a:ext cx="1456182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Research problem</a:t>
            </a:r>
            <a:endParaRPr b="1" dirty="0"/>
          </a:p>
        </p:txBody>
      </p:sp>
      <p:pic>
        <p:nvPicPr>
          <p:cNvPr id="2" name="Imagem 1" descr="Diagrama&#10;&#10;Descrição gerada automaticamente">
            <a:extLst>
              <a:ext uri="{FF2B5EF4-FFF2-40B4-BE49-F238E27FC236}">
                <a16:creationId xmlns:a16="http://schemas.microsoft.com/office/drawing/2014/main" id="{BCD60580-8240-880F-933B-848858CDA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292" b="90190" l="853" r="98437">
                        <a14:foregroundMark x1="74758" y1="8680" x2="78340" y2="5692"/>
                        <a14:foregroundMark x1="81609" y1="2987" x2="83570" y2="1292"/>
                        <a14:foregroundMark x1="2615" y1="67017" x2="881" y2="68672"/>
                        <a14:foregroundMark x1="40478" y1="89948" x2="48096" y2="90190"/>
                        <a14:foregroundMark x1="87379" y1="89382" x2="96020" y2="89261"/>
                        <a14:foregroundMark x1="91501" y1="69721" x2="98437" y2="76706"/>
                        <a14:foregroundMark x1="98437" y1="76706" x2="96020" y2="88494"/>
                        <a14:foregroundMark x1="67823" y1="87808" x2="67339" y2="88938"/>
                        <a14:foregroundMark x1="69471" y1="75898" x2="70182" y2="74526"/>
                        <a14:foregroundMark x1="22030" y1="26524" x2="14980" y2="28179"/>
                        <a14:backgroundMark x1="29022" y1="47679" x2="28226" y2="48446"/>
                        <a14:backgroundMark x1="25497" y1="50545" x2="25441" y2="50706"/>
                        <a14:backgroundMark x1="22314" y1="53008" x2="21745" y2="53977"/>
                        <a14:backgroundMark x1="32717" y1="44732" x2="33485" y2="44610"/>
                        <a14:backgroundMark x1="19727" y1="55309" x2="18164" y2="56318"/>
                        <a14:backgroundMark x1="16572" y1="58216" x2="15208" y2="59023"/>
                        <a14:backgroundMark x1="13786" y1="60719" x2="11967" y2="61365"/>
                        <a14:backgroundMark x1="10318" y1="63181" x2="8954" y2="63948"/>
                        <a14:backgroundMark x1="7391" y1="65523" x2="5486" y2="66895"/>
                        <a14:backgroundMark x1="39312" y1="38999" x2="42240" y2="37182"/>
                        <a14:backgroundMark x1="44144" y1="35285" x2="45480" y2="34396"/>
                        <a14:backgroundMark x1="47072" y1="32822" x2="48408" y2="31893"/>
                        <a14:backgroundMark x1="49829" y1="30561" x2="50853" y2="29189"/>
                        <a14:backgroundMark x1="53070" y1="27735" x2="54520" y2="26726"/>
                        <a14:backgroundMark x1="55941" y1="25474" x2="58783" y2="23698"/>
                        <a14:backgroundMark x1="60205" y1="21881" x2="62024" y2="20670"/>
                        <a14:backgroundMark x1="65208" y1="17844" x2="67339" y2="16512"/>
                        <a14:backgroundMark x1="69244" y1="14130" x2="70040" y2="14009"/>
                        <a14:backgroundMark x1="71632" y1="12798" x2="72257" y2="12233"/>
                        <a14:backgroundMark x1="74957" y1="10295" x2="78198" y2="7590"/>
                        <a14:backgroundMark x1="80330" y1="5127" x2="80813" y2="5571"/>
                        <a14:backgroundMark x1="82319" y1="3795" x2="82945" y2="3674"/>
                        <a14:backgroundMark x1="32177" y1="29673" x2="32575" y2="32459"/>
                        <a14:backgroundMark x1="36356" y1="42148" x2="36612" y2="42269"/>
                        <a14:backgroundMark x1="62194" y1="23819" x2="62194" y2="23819"/>
                        <a14:backgroundMark x1="64497" y1="21760" x2="65037" y2="21679"/>
                        <a14:backgroundMark x1="66856" y1="21760" x2="67112" y2="21760"/>
                        <a14:backgroundMark x1="27032" y1="26524" x2="23366" y2="27735"/>
                        <a14:backgroundMark x1="25981" y1="26403" x2="23621" y2="27170"/>
                        <a14:backgroundMark x1="34792" y1="21760" x2="37806" y2="16270"/>
                        <a14:backgroundMark x1="30273" y1="46306" x2="30273" y2="45862"/>
                        <a14:backgroundMark x1="41444" y1="40452" x2="42553" y2="39322"/>
                        <a14:backgroundMark x1="62194" y1="16714" x2="61626" y2="168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370503"/>
            <a:ext cx="10935145" cy="7700338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9200C872-BF9B-F6B3-F8D1-DA3BF43D7B89}"/>
              </a:ext>
            </a:extLst>
          </p:cNvPr>
          <p:cNvSpPr txBox="1"/>
          <p:nvPr/>
        </p:nvSpPr>
        <p:spPr>
          <a:xfrm>
            <a:off x="6632762" y="7639498"/>
            <a:ext cx="36439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 err="1">
                <a:solidFill>
                  <a:srgbClr val="FF0000"/>
                </a:solidFill>
              </a:rPr>
              <a:t>Transverse</a:t>
            </a:r>
            <a:r>
              <a:rPr lang="pt-BR" sz="3000" b="1" dirty="0"/>
              <a:t> </a:t>
            </a:r>
            <a:r>
              <a:rPr lang="pt-BR" sz="3000" b="1" dirty="0" err="1">
                <a:solidFill>
                  <a:srgbClr val="FF0000"/>
                </a:solidFill>
              </a:rPr>
              <a:t>Gallery</a:t>
            </a:r>
            <a:endParaRPr lang="pt-BR" sz="3000" b="1" dirty="0">
              <a:solidFill>
                <a:srgbClr val="FF0000"/>
              </a:solidFill>
            </a:endParaRPr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D3242D1D-B31D-B6FA-C4CC-91E0786EF4AC}"/>
              </a:ext>
            </a:extLst>
          </p:cNvPr>
          <p:cNvCxnSpPr>
            <a:cxnSpLocks/>
          </p:cNvCxnSpPr>
          <p:nvPr/>
        </p:nvCxnSpPr>
        <p:spPr>
          <a:xfrm>
            <a:off x="3681351" y="6416412"/>
            <a:ext cx="244219" cy="2231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39C7AA22-AB69-8445-DB0E-4018C25A3CCB}"/>
              </a:ext>
            </a:extLst>
          </p:cNvPr>
          <p:cNvCxnSpPr>
            <a:cxnSpLocks/>
          </p:cNvCxnSpPr>
          <p:nvPr/>
        </p:nvCxnSpPr>
        <p:spPr>
          <a:xfrm>
            <a:off x="3925570" y="6639560"/>
            <a:ext cx="47917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A8FA509-F0F8-ACB1-2291-92C0A7EC0FD2}"/>
              </a:ext>
            </a:extLst>
          </p:cNvPr>
          <p:cNvSpPr txBox="1"/>
          <p:nvPr/>
        </p:nvSpPr>
        <p:spPr>
          <a:xfrm>
            <a:off x="4389819" y="6085562"/>
            <a:ext cx="364394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b="1" dirty="0" err="1">
                <a:solidFill>
                  <a:srgbClr val="FF0000"/>
                </a:solidFill>
              </a:rPr>
              <a:t>Transverse</a:t>
            </a:r>
            <a:r>
              <a:rPr lang="pt-BR" sz="3000" b="1" dirty="0"/>
              <a:t> </a:t>
            </a:r>
            <a:r>
              <a:rPr lang="pt-BR" sz="3000" b="1" dirty="0" err="1">
                <a:solidFill>
                  <a:srgbClr val="FF0000"/>
                </a:solidFill>
              </a:rPr>
              <a:t>Gallery</a:t>
            </a:r>
            <a:endParaRPr lang="pt-BR" sz="3000" b="1" dirty="0">
              <a:solidFill>
                <a:srgbClr val="FF0000"/>
              </a:solidFill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9F5B8CF-3AE9-9CA2-BC6D-1E2F0261CCAB}"/>
              </a:ext>
            </a:extLst>
          </p:cNvPr>
          <p:cNvSpPr txBox="1"/>
          <p:nvPr/>
        </p:nvSpPr>
        <p:spPr>
          <a:xfrm>
            <a:off x="7597037" y="5050748"/>
            <a:ext cx="3307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Emergency</a:t>
            </a:r>
            <a:r>
              <a:rPr lang="pt-BR" sz="3000" dirty="0"/>
              <a:t> </a:t>
            </a:r>
          </a:p>
          <a:p>
            <a:pPr algn="ctr"/>
            <a:r>
              <a:rPr lang="pt-BR" sz="3000" dirty="0"/>
              <a:t>stop </a:t>
            </a:r>
            <a:r>
              <a:rPr lang="pt-BR" sz="3000" dirty="0" err="1"/>
              <a:t>stations</a:t>
            </a:r>
            <a:endParaRPr lang="pt-BR" sz="3000" dirty="0"/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D3566A9D-2312-A535-A344-BEAE30A7A5CF}"/>
              </a:ext>
            </a:extLst>
          </p:cNvPr>
          <p:cNvCxnSpPr>
            <a:cxnSpLocks/>
          </p:cNvCxnSpPr>
          <p:nvPr/>
        </p:nvCxnSpPr>
        <p:spPr>
          <a:xfrm>
            <a:off x="5579213" y="5585593"/>
            <a:ext cx="47917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C3327F1F-671F-90D0-0B3F-C984866E2F98}"/>
              </a:ext>
            </a:extLst>
          </p:cNvPr>
          <p:cNvCxnSpPr>
            <a:cxnSpLocks/>
          </p:cNvCxnSpPr>
          <p:nvPr/>
        </p:nvCxnSpPr>
        <p:spPr>
          <a:xfrm flipV="1">
            <a:off x="3925570" y="5585593"/>
            <a:ext cx="3862070" cy="335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6C78660-0A4D-ADFB-3211-6DC1D2ECE691}"/>
              </a:ext>
            </a:extLst>
          </p:cNvPr>
          <p:cNvSpPr txBox="1"/>
          <p:nvPr/>
        </p:nvSpPr>
        <p:spPr>
          <a:xfrm>
            <a:off x="10370923" y="3477661"/>
            <a:ext cx="2659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Access </a:t>
            </a:r>
            <a:r>
              <a:rPr lang="pt-BR" sz="3000" dirty="0" err="1"/>
              <a:t>tunnel</a:t>
            </a:r>
            <a:r>
              <a:rPr lang="pt-BR" sz="3000" dirty="0"/>
              <a:t> </a:t>
            </a:r>
            <a:r>
              <a:rPr lang="pt-BR" sz="3000" dirty="0" err="1"/>
              <a:t>Faido</a:t>
            </a:r>
            <a:endParaRPr lang="pt-BR" sz="3000" dirty="0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50E3D5E-2B98-8096-2D51-472AE17EB9C6}"/>
              </a:ext>
            </a:extLst>
          </p:cNvPr>
          <p:cNvSpPr txBox="1"/>
          <p:nvPr/>
        </p:nvSpPr>
        <p:spPr>
          <a:xfrm>
            <a:off x="10634207" y="2124681"/>
            <a:ext cx="26592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Bodio</a:t>
            </a:r>
            <a:r>
              <a:rPr lang="pt-BR" sz="3000" dirty="0"/>
              <a:t> Portal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E97E01B-4B6E-6A4B-E8FA-09CF1A6848D1}"/>
              </a:ext>
            </a:extLst>
          </p:cNvPr>
          <p:cNvSpPr txBox="1"/>
          <p:nvPr/>
        </p:nvSpPr>
        <p:spPr>
          <a:xfrm>
            <a:off x="1028700" y="3695277"/>
            <a:ext cx="2681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Shafts</a:t>
            </a:r>
            <a:r>
              <a:rPr lang="pt-BR" sz="3000" dirty="0"/>
              <a:t> </a:t>
            </a:r>
            <a:r>
              <a:rPr lang="pt-BR" sz="3000" dirty="0" err="1"/>
              <a:t>Sedrun</a:t>
            </a:r>
            <a:endParaRPr lang="pt-BR" sz="3000" dirty="0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EB0C450-227B-B4D4-91C6-1DA9E5CF5334}"/>
              </a:ext>
            </a:extLst>
          </p:cNvPr>
          <p:cNvSpPr txBox="1"/>
          <p:nvPr/>
        </p:nvSpPr>
        <p:spPr>
          <a:xfrm>
            <a:off x="102744" y="6362561"/>
            <a:ext cx="1898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 err="1"/>
              <a:t>Erstfeld</a:t>
            </a:r>
            <a:r>
              <a:rPr lang="pt-BR" sz="3000" dirty="0"/>
              <a:t> Portal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44DDC777-EDD0-F77E-30FC-B86844F9D753}"/>
              </a:ext>
            </a:extLst>
          </p:cNvPr>
          <p:cNvSpPr txBox="1"/>
          <p:nvPr/>
        </p:nvSpPr>
        <p:spPr>
          <a:xfrm>
            <a:off x="1685231" y="8193496"/>
            <a:ext cx="2704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dirty="0" err="1"/>
              <a:t>Tunnel</a:t>
            </a:r>
            <a:r>
              <a:rPr lang="pt-BR" sz="3000" dirty="0"/>
              <a:t> Access</a:t>
            </a:r>
          </a:p>
          <a:p>
            <a:pPr algn="ctr"/>
            <a:r>
              <a:rPr lang="pt-BR" sz="3000" dirty="0" err="1"/>
              <a:t>Amsteg</a:t>
            </a:r>
            <a:endParaRPr lang="pt-BR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dirty="0"/>
          </a:p>
        </p:txBody>
      </p:sp>
      <p:sp>
        <p:nvSpPr>
          <p:cNvPr id="104" name="Google Shape;104;p2"/>
          <p:cNvSpPr txBox="1"/>
          <p:nvPr/>
        </p:nvSpPr>
        <p:spPr>
          <a:xfrm>
            <a:off x="1028700" y="3780012"/>
            <a:ext cx="1413574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4000" dirty="0"/>
              <a:t>Present a study of the differences in the anisotropic redistribution of lining pressures due to the presence of the transverse galleries in twin tunnels comparing elastic and viscoelastic linings in elastoplastic-</a:t>
            </a:r>
            <a:r>
              <a:rPr lang="en-US" sz="4000" dirty="0" err="1"/>
              <a:t>viscoplastic</a:t>
            </a:r>
            <a:r>
              <a:rPr lang="en-US" sz="4000" dirty="0"/>
              <a:t> </a:t>
            </a:r>
            <a:r>
              <a:rPr lang="en-US" sz="4000" dirty="0" err="1"/>
              <a:t>rockmass</a:t>
            </a:r>
            <a:r>
              <a:rPr lang="en-US" sz="4000" dirty="0"/>
              <a:t>.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CB3CA90-8ABA-EAB6-E372-AB2B66E206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3</a:t>
            </a:fld>
            <a:endParaRPr lang="en-US" sz="1800" dirty="0">
              <a:solidFill>
                <a:srgbClr val="FFF4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028700" y="2292600"/>
            <a:ext cx="1413574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Schematic representation of the geometry problem:</a:t>
            </a:r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CA1018EF-5666-130C-9E90-7C5DA24786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4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6" name="Google Shape;103;p2">
            <a:extLst>
              <a:ext uri="{FF2B5EF4-FFF2-40B4-BE49-F238E27FC236}">
                <a16:creationId xmlns:a16="http://schemas.microsoft.com/office/drawing/2014/main" id="{78C9D14A-1A4E-5473-2D6B-94CF55E8885C}"/>
              </a:ext>
            </a:extLst>
          </p:cNvPr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F.E Model</a:t>
            </a:r>
            <a:endParaRPr b="1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3803F99-0712-1813-B4A9-CCDA7866A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809" y="3468809"/>
            <a:ext cx="15650568" cy="584500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8B650E8-DEFC-4BB5-37D5-99A1D4943770}"/>
              </a:ext>
            </a:extLst>
          </p:cNvPr>
          <p:cNvSpPr txBox="1"/>
          <p:nvPr/>
        </p:nvSpPr>
        <p:spPr>
          <a:xfrm>
            <a:off x="3185159" y="9557657"/>
            <a:ext cx="367284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Longitudinal Profile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425A294-C414-4C0D-FFA6-8616A3055B86}"/>
              </a:ext>
            </a:extLst>
          </p:cNvPr>
          <p:cNvSpPr txBox="1"/>
          <p:nvPr/>
        </p:nvSpPr>
        <p:spPr>
          <a:xfrm>
            <a:off x="11430000" y="9457839"/>
            <a:ext cx="3139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/>
              <a:t>Section A-A’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1B5D9C6F-A1F2-A002-EA58-C8174CE3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4B0EA7D-E581-0270-5D53-BAB7D9C870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5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42EF4836-B86D-CFCF-BEAA-D737DA977C41}"/>
              </a:ext>
            </a:extLst>
          </p:cNvPr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Mesh</a:t>
            </a:r>
            <a:endParaRPr b="1" dirty="0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A40E8BC-F5D9-E05B-8418-760DCCB05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5316" y="157461"/>
            <a:ext cx="14167537" cy="9977139"/>
          </a:xfrm>
          <a:prstGeom prst="rect">
            <a:avLst/>
          </a:prstGeom>
        </p:spPr>
      </p:pic>
      <p:sp>
        <p:nvSpPr>
          <p:cNvPr id="6" name="Google Shape;128;p4">
            <a:extLst>
              <a:ext uri="{FF2B5EF4-FFF2-40B4-BE49-F238E27FC236}">
                <a16:creationId xmlns:a16="http://schemas.microsoft.com/office/drawing/2014/main" id="{62DC6746-F486-7798-6B69-99C8069493DA}"/>
              </a:ext>
            </a:extLst>
          </p:cNvPr>
          <p:cNvSpPr txBox="1"/>
          <p:nvPr/>
        </p:nvSpPr>
        <p:spPr>
          <a:xfrm>
            <a:off x="9822181" y="9483208"/>
            <a:ext cx="759713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Approximately 617,000 elements</a:t>
            </a:r>
          </a:p>
        </p:txBody>
      </p:sp>
    </p:spTree>
    <p:extLst>
      <p:ext uri="{BB962C8B-B14F-4D97-AF65-F5344CB8AC3E}">
        <p14:creationId xmlns:p14="http://schemas.microsoft.com/office/powerpoint/2010/main" val="672309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D5554C9E-D29E-88F2-A0A4-FA6A4DBE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732FBD24-B709-E67C-95BD-3F1336E534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6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2501AD9E-37BC-B80B-4757-8921328B9293}"/>
              </a:ext>
            </a:extLst>
          </p:cNvPr>
          <p:cNvSpPr txBox="1"/>
          <p:nvPr/>
        </p:nvSpPr>
        <p:spPr>
          <a:xfrm>
            <a:off x="1028700" y="631768"/>
            <a:ext cx="4995913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Mesh</a:t>
            </a:r>
            <a:endParaRPr b="1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0E0E0613-13D5-CE4E-230F-28AE843EA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642" y="2712720"/>
            <a:ext cx="15449374" cy="5989320"/>
          </a:xfrm>
          <a:prstGeom prst="rect">
            <a:avLst/>
          </a:prstGeom>
        </p:spPr>
      </p:pic>
      <p:sp>
        <p:nvSpPr>
          <p:cNvPr id="8" name="Google Shape;128;p4">
            <a:extLst>
              <a:ext uri="{FF2B5EF4-FFF2-40B4-BE49-F238E27FC236}">
                <a16:creationId xmlns:a16="http://schemas.microsoft.com/office/drawing/2014/main" id="{24FEA1BD-FC6D-BDD5-A41D-58A9FEF0069F}"/>
              </a:ext>
            </a:extLst>
          </p:cNvPr>
          <p:cNvSpPr txBox="1"/>
          <p:nvPr/>
        </p:nvSpPr>
        <p:spPr>
          <a:xfrm>
            <a:off x="10312135" y="8511793"/>
            <a:ext cx="759713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8-node trilinear hexahedral;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4-node linear tetrahedral;</a:t>
            </a:r>
          </a:p>
        </p:txBody>
      </p:sp>
    </p:spTree>
    <p:extLst>
      <p:ext uri="{BB962C8B-B14F-4D97-AF65-F5344CB8AC3E}">
        <p14:creationId xmlns:p14="http://schemas.microsoft.com/office/powerpoint/2010/main" val="489032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7B1A3F4-3C4C-75E1-BEB7-2A002009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10575DBC-C037-FB11-002A-50EE25561A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7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BA8BC13C-91FA-B633-C45F-6A48AACB2F2F}"/>
              </a:ext>
            </a:extLst>
          </p:cNvPr>
          <p:cNvSpPr txBox="1"/>
          <p:nvPr/>
        </p:nvSpPr>
        <p:spPr>
          <a:xfrm>
            <a:off x="1028700" y="631768"/>
            <a:ext cx="15491460" cy="324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Activation and deactivation method</a:t>
            </a:r>
            <a:endParaRPr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52B4ECC-7EEC-AF11-72D2-E54383BED7D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" t="10063" r="428" b="34319"/>
          <a:stretch/>
        </p:blipFill>
        <p:spPr>
          <a:xfrm>
            <a:off x="737503" y="4128938"/>
            <a:ext cx="15071336" cy="496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9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AD20519A-641B-EA63-383E-4110124D5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>
            <a:extLst>
              <a:ext uri="{FF2B5EF4-FFF2-40B4-BE49-F238E27FC236}">
                <a16:creationId xmlns:a16="http://schemas.microsoft.com/office/drawing/2014/main" id="{606DD012-A85A-69BC-0E87-1C0ECBD5B202}"/>
              </a:ext>
            </a:extLst>
          </p:cNvPr>
          <p:cNvSpPr txBox="1"/>
          <p:nvPr/>
        </p:nvSpPr>
        <p:spPr>
          <a:xfrm>
            <a:off x="752849" y="2238612"/>
            <a:ext cx="1506474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Rockmass</a:t>
            </a: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dirty="0"/>
              <a:t>C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oupled elastoplastic-</a:t>
            </a:r>
            <a:r>
              <a:rPr lang="en-US" sz="3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viscoplastic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formulation by Rousset (1989) and Quevedo (2021);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dirty="0"/>
              <a:t>Drucker-Prager inscribed in Mohr-Coulomb.</a:t>
            </a:r>
            <a:endParaRPr dirty="0"/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EA02057-3589-AE1A-6164-4D59D425AE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8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B9850288-631D-F5AA-C36D-FF4CFC660A6F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Materials constitutive models</a:t>
            </a:r>
            <a:endParaRPr b="1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5AA733E-2158-032A-CF5B-7A96740F3C08}"/>
              </a:ext>
            </a:extLst>
          </p:cNvPr>
          <p:cNvGrpSpPr/>
          <p:nvPr/>
        </p:nvGrpSpPr>
        <p:grpSpPr>
          <a:xfrm>
            <a:off x="2362200" y="4231592"/>
            <a:ext cx="10678886" cy="5781052"/>
            <a:chOff x="4373880" y="2615765"/>
            <a:chExt cx="11475720" cy="6212420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258236CD-3984-9BF7-56FF-8B2C509BE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73880" y="2615765"/>
              <a:ext cx="11475720" cy="621242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63129BA-6A66-D408-5D5E-F9695FC09D86}"/>
                </a:ext>
              </a:extLst>
            </p:cNvPr>
            <p:cNvSpPr txBox="1"/>
            <p:nvPr/>
          </p:nvSpPr>
          <p:spPr>
            <a:xfrm>
              <a:off x="6934200" y="4114799"/>
              <a:ext cx="17983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E, </a:t>
              </a:r>
              <a:r>
                <a:rPr lang="el-GR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ν</a:t>
              </a:r>
              <a:endParaRPr lang="pt-BR" sz="3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2845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31C4D746-932E-5D4C-26A3-6FBCDC27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A849D3BC-E777-C4B6-CEDA-BB92C6BCC11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10760" y="157461"/>
            <a:ext cx="606643" cy="47430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9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3" name="Google Shape;128;p4">
            <a:extLst>
              <a:ext uri="{FF2B5EF4-FFF2-40B4-BE49-F238E27FC236}">
                <a16:creationId xmlns:a16="http://schemas.microsoft.com/office/drawing/2014/main" id="{22E04FA1-C092-8F57-1DD3-F83C9CE217BA}"/>
              </a:ext>
            </a:extLst>
          </p:cNvPr>
          <p:cNvSpPr txBox="1"/>
          <p:nvPr/>
        </p:nvSpPr>
        <p:spPr>
          <a:xfrm>
            <a:off x="1028700" y="2292600"/>
            <a:ext cx="1413574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Lining:</a:t>
            </a:r>
            <a:r>
              <a:rPr lang="en-US" sz="3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3000" dirty="0"/>
              <a:t>Elastic and Viscoelastic linings (Creep and Shrinkage) – Quevedo (2017)</a:t>
            </a:r>
          </a:p>
        </p:txBody>
      </p:sp>
      <p:sp>
        <p:nvSpPr>
          <p:cNvPr id="4" name="Google Shape;103;p2">
            <a:extLst>
              <a:ext uri="{FF2B5EF4-FFF2-40B4-BE49-F238E27FC236}">
                <a16:creationId xmlns:a16="http://schemas.microsoft.com/office/drawing/2014/main" id="{216D7464-565E-71F4-2332-A01335DCB1A9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Materials constitutive models</a:t>
            </a:r>
            <a:endParaRPr b="1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EA298FAD-AB08-A0C3-D2AF-1CAFC5198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8008" y="3788353"/>
            <a:ext cx="13357127" cy="487169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48ABF88-4BC3-1856-4E46-33D45544C5DA}"/>
              </a:ext>
            </a:extLst>
          </p:cNvPr>
          <p:cNvSpPr txBox="1"/>
          <p:nvPr/>
        </p:nvSpPr>
        <p:spPr>
          <a:xfrm>
            <a:off x="1418008" y="8863136"/>
            <a:ext cx="144969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ea typeface="Times New Roman" panose="02020603050405020304" pitchFamily="18" charset="0"/>
              </a:rPr>
              <a:t>Schematic representation of Generalized Kelvin model for the concrete</a:t>
            </a:r>
            <a:r>
              <a:rPr lang="en-US" sz="3000" dirty="0">
                <a:solidFill>
                  <a:srgbClr val="EE0000"/>
                </a:solidFill>
                <a:ea typeface="Times New Roman" panose="02020603050405020304" pitchFamily="18" charset="0"/>
              </a:rPr>
              <a:t> </a:t>
            </a:r>
            <a:r>
              <a:rPr lang="en-US" sz="3000" dirty="0"/>
              <a:t>Bazant &amp; </a:t>
            </a:r>
            <a:r>
              <a:rPr lang="en-US" sz="3000" dirty="0" err="1"/>
              <a:t>Prasannan</a:t>
            </a:r>
            <a:r>
              <a:rPr lang="en-US" sz="3000" dirty="0"/>
              <a:t> (1989) with parameters calibrated by CEB-FIP (1990) formulation</a:t>
            </a:r>
            <a:endParaRPr lang="pt-BR" sz="3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513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6730651B-E600-7C08-BD23-A1E8BD247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7DFA80DB-0DBE-1B4F-920A-2BC458B8A0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10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092D847F-E6A8-8785-4DDB-42E767F1DD62}"/>
              </a:ext>
            </a:extLst>
          </p:cNvPr>
          <p:cNvSpPr txBox="1"/>
          <p:nvPr/>
        </p:nvSpPr>
        <p:spPr>
          <a:xfrm>
            <a:off x="963385" y="518160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B1A09917-62E6-058C-6221-3E5C589E8D37}"/>
              </a:ext>
            </a:extLst>
          </p:cNvPr>
          <p:cNvSpPr txBox="1"/>
          <p:nvPr/>
        </p:nvSpPr>
        <p:spPr>
          <a:xfrm>
            <a:off x="963385" y="1790711"/>
            <a:ext cx="14607539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200" dirty="0"/>
              <a:t>Numerical results of lining pressures are presented at the </a:t>
            </a:r>
            <a:r>
              <a:rPr lang="en-US" sz="3200" b="1" dirty="0"/>
              <a:t>end of construction </a:t>
            </a:r>
            <a:r>
              <a:rPr lang="en-US" sz="3200" dirty="0"/>
              <a:t>and </a:t>
            </a:r>
            <a:r>
              <a:rPr lang="en-US" sz="3200" b="1" dirty="0"/>
              <a:t>after 3,000 days</a:t>
            </a:r>
            <a:r>
              <a:rPr lang="en-US" sz="3200" dirty="0"/>
              <a:t>, representing long-term viscous stabilization. </a:t>
            </a:r>
          </a:p>
          <a:p>
            <a:pPr lvl="0" algn="just">
              <a:lnSpc>
                <a:spcPct val="140000"/>
              </a:lnSpc>
            </a:pPr>
            <a:r>
              <a:rPr lang="en-US" sz="3200" dirty="0"/>
              <a:t>The anisotropies of pressures are represented by: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B96DD95-91F2-0F45-C1DB-577ECA0C9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7311" y="3968126"/>
            <a:ext cx="4481603" cy="130532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FC9CF66-BBC6-3E5C-9BED-A1F4F814F6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884" y="5777851"/>
            <a:ext cx="13999386" cy="421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8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DE621B14-BF08-E95A-43C3-09A5C23A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A1CBFEDA-AE2C-ADE3-03B2-AFBBBD4460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11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A0A8373C-1E9E-000F-DE69-7CA5ED48B664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1E62D6CA-2444-8E20-8E48-96B2D5F979C6}"/>
                  </a:ext>
                </a:extLst>
              </p:cNvPr>
              <p:cNvSpPr txBox="1"/>
              <p:nvPr/>
            </p:nvSpPr>
            <p:spPr>
              <a:xfrm>
                <a:off x="6633210" y="2171788"/>
                <a:ext cx="5021580" cy="1998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Lining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28</m:t>
                            </m:r>
                          </m:sub>
                        </m:sSub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=25,146 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n-US" sz="3000" dirty="0"/>
                  <a:t>2</a:t>
                </a:r>
              </a:p>
            </p:txBody>
          </p:sp>
        </mc:Choice>
        <mc:Fallback xmlns="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1E62D6CA-2444-8E20-8E48-96B2D5F97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210" y="2171788"/>
                <a:ext cx="5021580" cy="1998945"/>
              </a:xfrm>
              <a:prstGeom prst="rect">
                <a:avLst/>
              </a:prstGeom>
              <a:blipFill>
                <a:blip r:embed="rId4"/>
                <a:stretch>
                  <a:fillRect l="-4612" t="-610" b="-70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Google Shape;128;p4">
                <a:extLst>
                  <a:ext uri="{FF2B5EF4-FFF2-40B4-BE49-F238E27FC236}">
                    <a16:creationId xmlns:a16="http://schemas.microsoft.com/office/drawing/2014/main" id="{1849CFB4-D647-0843-8463-9CF71390CEDB}"/>
                  </a:ext>
                </a:extLst>
              </p:cNvPr>
              <p:cNvSpPr txBox="1"/>
              <p:nvPr/>
            </p:nvSpPr>
            <p:spPr>
              <a:xfrm>
                <a:off x="1181100" y="2171788"/>
                <a:ext cx="5021580" cy="64633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Rockmass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=1,400 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0,4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MPa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3000" dirty="0">
                  <a:latin typeface="Cambria Math" panose="02040503050406030204" pitchFamily="18" charset="0"/>
                </a:endParaRPr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=40,000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MPa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day</m:t>
                    </m:r>
                    <m:r>
                      <a:rPr lang="pt-BR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MPa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>
          <p:sp>
            <p:nvSpPr>
              <p:cNvPr id="8" name="Google Shape;128;p4">
                <a:extLst>
                  <a:ext uri="{FF2B5EF4-FFF2-40B4-BE49-F238E27FC236}">
                    <a16:creationId xmlns:a16="http://schemas.microsoft.com/office/drawing/2014/main" id="{1849CFB4-D647-0843-8463-9CF71390C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2171788"/>
                <a:ext cx="5021580" cy="6463308"/>
              </a:xfrm>
              <a:prstGeom prst="rect">
                <a:avLst/>
              </a:prstGeom>
              <a:blipFill>
                <a:blip r:embed="rId5"/>
                <a:stretch>
                  <a:fillRect l="-4733" t="-1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DF242FBE-AD84-3494-B023-510C1801A42D}"/>
                  </a:ext>
                </a:extLst>
              </p:cNvPr>
              <p:cNvSpPr txBox="1"/>
              <p:nvPr/>
            </p:nvSpPr>
            <p:spPr>
              <a:xfrm>
                <a:off x="11311344" y="2171788"/>
                <a:ext cx="4480199" cy="53753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Tunnel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0.05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pt-BR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12.5</m:t>
                    </m:r>
                  </m:oMath>
                </a14:m>
                <a:r>
                  <a:rPr lang="en-US" sz="3000" dirty="0"/>
                  <a:t> m/s</a:t>
                </a:r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DF242FBE-AD84-3494-B023-510C1801A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1344" y="2171788"/>
                <a:ext cx="4480199" cy="5375318"/>
              </a:xfrm>
              <a:prstGeom prst="rect">
                <a:avLst/>
              </a:prstGeom>
              <a:blipFill>
                <a:blip r:embed="rId6"/>
                <a:stretch>
                  <a:fillRect l="-5313" t="-2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33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B18EF18-66CF-DB5E-DA0A-60655135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21872859-F8A7-3043-7B1B-97043EC9CB6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12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32DDC177-644D-51B6-62C9-E601D808F6CE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E20D8905-EA94-88A6-C065-7259DDA0DCBC}"/>
              </a:ext>
            </a:extLst>
          </p:cNvPr>
          <p:cNvSpPr txBox="1"/>
          <p:nvPr/>
        </p:nvSpPr>
        <p:spPr>
          <a:xfrm>
            <a:off x="1120140" y="2140200"/>
            <a:ext cx="14257019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2800" dirty="0"/>
              <a:t>Anisotropy of pressures in longitudinal tunnel lining at the </a:t>
            </a:r>
            <a:r>
              <a:rPr lang="en-US" sz="2800" b="1" dirty="0"/>
              <a:t>end of construction</a:t>
            </a:r>
            <a:r>
              <a:rPr lang="en-US" sz="2800" dirty="0"/>
              <a:t>: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2820C731-5EEF-31B2-E80E-FAE35337E1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354" y="3286712"/>
            <a:ext cx="7921399" cy="573529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7327B42-2D2B-FF01-D92E-E5A7B931E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9569" y="3286712"/>
            <a:ext cx="7928609" cy="5740518"/>
          </a:xfrm>
          <a:prstGeom prst="rect">
            <a:avLst/>
          </a:prstGeom>
        </p:spPr>
      </p:pic>
      <p:sp>
        <p:nvSpPr>
          <p:cNvPr id="14" name="Google Shape;128;p4">
            <a:extLst>
              <a:ext uri="{FF2B5EF4-FFF2-40B4-BE49-F238E27FC236}">
                <a16:creationId xmlns:a16="http://schemas.microsoft.com/office/drawing/2014/main" id="{ABD2A904-81FF-6D9A-A4C6-8A87729E5410}"/>
              </a:ext>
            </a:extLst>
          </p:cNvPr>
          <p:cNvSpPr txBox="1"/>
          <p:nvPr/>
        </p:nvSpPr>
        <p:spPr>
          <a:xfrm>
            <a:off x="191262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(a) Elastic lining</a:t>
            </a:r>
          </a:p>
        </p:txBody>
      </p:sp>
      <p:sp>
        <p:nvSpPr>
          <p:cNvPr id="15" name="Google Shape;128;p4">
            <a:extLst>
              <a:ext uri="{FF2B5EF4-FFF2-40B4-BE49-F238E27FC236}">
                <a16:creationId xmlns:a16="http://schemas.microsoft.com/office/drawing/2014/main" id="{FFEF0420-FDE0-A8BA-F38D-D74308CB2A0B}"/>
              </a:ext>
            </a:extLst>
          </p:cNvPr>
          <p:cNvSpPr txBox="1"/>
          <p:nvPr/>
        </p:nvSpPr>
        <p:spPr>
          <a:xfrm>
            <a:off x="1000506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(b) Viscoelastic lining</a:t>
            </a:r>
          </a:p>
        </p:txBody>
      </p:sp>
    </p:spTree>
    <p:extLst>
      <p:ext uri="{BB962C8B-B14F-4D97-AF65-F5344CB8AC3E}">
        <p14:creationId xmlns:p14="http://schemas.microsoft.com/office/powerpoint/2010/main" val="224504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FFC3BFC2-BCD9-18D9-DED5-EA123006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5BEBBF60-E49B-97C2-A417-55AF5206C8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13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F5932BD8-54EF-9246-E06A-91548AD6119B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23BCB6E6-6E55-B738-5704-97BCD2E8B963}"/>
              </a:ext>
            </a:extLst>
          </p:cNvPr>
          <p:cNvSpPr txBox="1"/>
          <p:nvPr/>
        </p:nvSpPr>
        <p:spPr>
          <a:xfrm>
            <a:off x="1120140" y="2140200"/>
            <a:ext cx="142570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000" dirty="0"/>
              <a:t>Anisotropy of pressures in longitudinal tunnel lining at the </a:t>
            </a:r>
            <a:r>
              <a:rPr lang="en-US" sz="3000" b="1" dirty="0"/>
              <a:t>long-term</a:t>
            </a:r>
            <a:r>
              <a:rPr lang="en-US" sz="3000" dirty="0"/>
              <a:t>:</a:t>
            </a:r>
          </a:p>
        </p:txBody>
      </p:sp>
      <p:sp>
        <p:nvSpPr>
          <p:cNvPr id="14" name="Google Shape;128;p4">
            <a:extLst>
              <a:ext uri="{FF2B5EF4-FFF2-40B4-BE49-F238E27FC236}">
                <a16:creationId xmlns:a16="http://schemas.microsoft.com/office/drawing/2014/main" id="{F28BB791-8147-7456-532F-E78CAF6D3558}"/>
              </a:ext>
            </a:extLst>
          </p:cNvPr>
          <p:cNvSpPr txBox="1"/>
          <p:nvPr/>
        </p:nvSpPr>
        <p:spPr>
          <a:xfrm>
            <a:off x="191262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(c) Elastic lining</a:t>
            </a:r>
          </a:p>
        </p:txBody>
      </p:sp>
      <p:sp>
        <p:nvSpPr>
          <p:cNvPr id="15" name="Google Shape;128;p4">
            <a:extLst>
              <a:ext uri="{FF2B5EF4-FFF2-40B4-BE49-F238E27FC236}">
                <a16:creationId xmlns:a16="http://schemas.microsoft.com/office/drawing/2014/main" id="{ECBF6CF8-8879-8173-F6FC-48F56B081524}"/>
              </a:ext>
            </a:extLst>
          </p:cNvPr>
          <p:cNvSpPr txBox="1"/>
          <p:nvPr/>
        </p:nvSpPr>
        <p:spPr>
          <a:xfrm>
            <a:off x="10005061" y="9207021"/>
            <a:ext cx="5173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3000" dirty="0"/>
              <a:t>(d) Viscoelastic lining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E9E80A4-845E-D5CB-656A-51AFCCA29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062" y="3293745"/>
            <a:ext cx="15797875" cy="572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59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2BBC1BB-09BA-21BD-599E-C05EC814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36B35CD-0BC8-4C66-43D6-2AC460B61F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14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069F4438-BE79-BB9C-1B86-256A79E438DE}"/>
              </a:ext>
            </a:extLst>
          </p:cNvPr>
          <p:cNvSpPr txBox="1"/>
          <p:nvPr/>
        </p:nvSpPr>
        <p:spPr>
          <a:xfrm>
            <a:off x="1028700" y="337810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A367D0DD-992C-326E-3635-DCB5A7891F19}"/>
              </a:ext>
            </a:extLst>
          </p:cNvPr>
          <p:cNvSpPr txBox="1"/>
          <p:nvPr/>
        </p:nvSpPr>
        <p:spPr>
          <a:xfrm>
            <a:off x="634637" y="1762462"/>
            <a:ext cx="14698980" cy="758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transverse gallery causes a significant increase in lining pressures in the lateral tunnel wall near the parallel tunnel, particularly in section S1;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Stress concentrations form around the gallery entrance, modifying the pressure distribution along the lining;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Over the long term, pressures increase, but the influence of the friction angle becomes less pronounced;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viscoelastic lining shows greater anisotropy relative to the crown at 𝜙 = 0º when compared to elastic concrete;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These findings emphasize the importance of considering time-dependent material behavior and rock mass properties in design, especially near tunnel–gallery intersections.</a:t>
            </a:r>
          </a:p>
        </p:txBody>
      </p:sp>
    </p:spTree>
    <p:extLst>
      <p:ext uri="{BB962C8B-B14F-4D97-AF65-F5344CB8AC3E}">
        <p14:creationId xmlns:p14="http://schemas.microsoft.com/office/powerpoint/2010/main" val="9079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4445700" y="1286795"/>
            <a:ext cx="93966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6C1860"/>
                </a:solidFill>
              </a:rPr>
              <a:t>Acknowledgements</a:t>
            </a:r>
            <a:endParaRPr lang="en-US" sz="700" b="1" dirty="0"/>
          </a:p>
        </p:txBody>
      </p:sp>
      <p:sp>
        <p:nvSpPr>
          <p:cNvPr id="144" name="Google Shape;144;p5"/>
          <p:cNvSpPr txBox="1"/>
          <p:nvPr/>
        </p:nvSpPr>
        <p:spPr>
          <a:xfrm>
            <a:off x="1761319" y="7707543"/>
            <a:ext cx="1047640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it-IT" sz="3000" dirty="0">
                <a:solidFill>
                  <a:srgbClr val="1970A0"/>
                </a:solidFill>
              </a:rPr>
              <a:t>Bianca M. Girardi, Felipe P. M. Quevedo, Samir Maghous</a:t>
            </a:r>
            <a:endParaRPr lang="it-IT" sz="3200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rgbClr val="1970A0"/>
                </a:solidFill>
              </a:rPr>
              <a:t>eng.biancagirardi@gmail.com</a:t>
            </a:r>
            <a:endParaRPr b="1" dirty="0"/>
          </a:p>
        </p:txBody>
      </p:sp>
      <p:sp>
        <p:nvSpPr>
          <p:cNvPr id="4" name="Espaço Reservado para Número de Slide 2">
            <a:extLst>
              <a:ext uri="{FF2B5EF4-FFF2-40B4-BE49-F238E27FC236}">
                <a16:creationId xmlns:a16="http://schemas.microsoft.com/office/drawing/2014/main" id="{6A3D5766-F011-0CE0-3553-50FCAE7F0C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330058" y="157462"/>
            <a:ext cx="787346" cy="343282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15</a:t>
            </a:fld>
            <a:endParaRPr lang="en-US" sz="1800" dirty="0">
              <a:solidFill>
                <a:srgbClr val="FFF4F3"/>
              </a:solidFill>
            </a:endParaRPr>
          </a:p>
        </p:txBody>
      </p:sp>
      <p:pic>
        <p:nvPicPr>
          <p:cNvPr id="2" name="Picture 2" descr="Ufrgs Logo – Universidade Federal do Rio Grande do Sul - PNG e Vetor -  Download de Logo">
            <a:extLst>
              <a:ext uri="{FF2B5EF4-FFF2-40B4-BE49-F238E27FC236}">
                <a16:creationId xmlns:a16="http://schemas.microsoft.com/office/drawing/2014/main" id="{C8688426-D1BE-43D3-D3C4-35A1F06A3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53" y="3189570"/>
            <a:ext cx="2904470" cy="23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estrado – PPGEC-UFRGS">
            <a:extLst>
              <a:ext uri="{FF2B5EF4-FFF2-40B4-BE49-F238E27FC236}">
                <a16:creationId xmlns:a16="http://schemas.microsoft.com/office/drawing/2014/main" id="{F4FFAAE4-2793-F91B-B47C-B2EC11913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667" b="95333" l="683" r="94198">
                        <a14:foregroundMark x1="5119" y1="29000" x2="47099" y2="39333"/>
                        <a14:foregroundMark x1="47099" y1="39333" x2="91468" y2="38667"/>
                        <a14:foregroundMark x1="91468" y1="38667" x2="94198" y2="37333"/>
                        <a14:foregroundMark x1="683" y1="26667" x2="8532" y2="30667"/>
                        <a14:foregroundMark x1="30717" y1="30667" x2="30717" y2="30667"/>
                        <a14:foregroundMark x1="29693" y1="25667" x2="29693" y2="25667"/>
                        <a14:foregroundMark x1="30375" y1="18667" x2="30375" y2="18667"/>
                        <a14:foregroundMark x1="29693" y1="11333" x2="29693" y2="11333"/>
                        <a14:foregroundMark x1="35154" y1="9333" x2="35154" y2="9333"/>
                        <a14:foregroundMark x1="37884" y1="14000" x2="37884" y2="14000"/>
                        <a14:foregroundMark x1="37884" y1="16333" x2="37884" y2="16333"/>
                        <a14:foregroundMark x1="36860" y1="18333" x2="36860" y2="19000"/>
                        <a14:foregroundMark x1="34812" y1="20333" x2="34812" y2="20333"/>
                        <a14:foregroundMark x1="32765" y1="21000" x2="32082" y2="21333"/>
                        <a14:foregroundMark x1="31058" y1="22000" x2="31058" y2="22000"/>
                        <a14:foregroundMark x1="30717" y1="18333" x2="29693" y2="32333"/>
                        <a14:foregroundMark x1="30034" y1="8667" x2="29693" y2="19000"/>
                        <a14:foregroundMark x1="27986" y1="8667" x2="30034" y2="31667"/>
                        <a14:foregroundMark x1="34471" y1="8667" x2="37543" y2="15333"/>
                        <a14:foregroundMark x1="41297" y1="15333" x2="49488" y2="1667"/>
                        <a14:foregroundMark x1="43003" y1="13333" x2="46758" y2="8333"/>
                        <a14:foregroundMark x1="28669" y1="7667" x2="30375" y2="35333"/>
                        <a14:foregroundMark x1="30717" y1="22000" x2="35836" y2="8667"/>
                        <a14:foregroundMark x1="41980" y1="13667" x2="48123" y2="8333"/>
                        <a14:foregroundMark x1="50512" y1="10000" x2="55290" y2="17000"/>
                        <a14:foregroundMark x1="54608" y1="18000" x2="54266" y2="24333"/>
                        <a14:foregroundMark x1="54608" y1="22667" x2="53925" y2="29667"/>
                        <a14:foregroundMark x1="53242" y1="30333" x2="47782" y2="33667"/>
                        <a14:foregroundMark x1="48123" y1="34000" x2="43003" y2="29000"/>
                        <a14:foregroundMark x1="42662" y1="28333" x2="42321" y2="21333"/>
                        <a14:foregroundMark x1="42321" y1="19667" x2="41980" y2="14667"/>
                        <a14:foregroundMark x1="68259" y1="13000" x2="62457" y2="8333"/>
                        <a14:foregroundMark x1="61433" y1="8333" x2="60751" y2="14667"/>
                        <a14:foregroundMark x1="62799" y1="8667" x2="68942" y2="11667"/>
                        <a14:foregroundMark x1="59044" y1="14667" x2="62457" y2="21333"/>
                        <a14:foregroundMark x1="60751" y1="17000" x2="65870" y2="22333"/>
                        <a14:foregroundMark x1="63481" y1="21000" x2="69283" y2="28333"/>
                        <a14:foregroundMark x1="67577" y1="23667" x2="65188" y2="31000"/>
                        <a14:foregroundMark x1="66894" y1="31333" x2="64164" y2="33667"/>
                        <a14:foregroundMark x1="67918" y1="28333" x2="60068" y2="32333"/>
                        <a14:foregroundMark x1="61433" y1="34667" x2="59044" y2="31333"/>
                        <a14:foregroundMark x1="36860" y1="53333" x2="27986" y2="53000"/>
                        <a14:foregroundMark x1="26962" y1="53333" x2="27645" y2="62000"/>
                        <a14:foregroundMark x1="27986" y1="60667" x2="27986" y2="64333"/>
                        <a14:foregroundMark x1="30034" y1="64333" x2="36519" y2="63667"/>
                        <a14:foregroundMark x1="34471" y1="62333" x2="34812" y2="69000"/>
                        <a14:foregroundMark x1="29010" y1="64333" x2="27304" y2="73000"/>
                        <a14:foregroundMark x1="27645" y1="67333" x2="27645" y2="74333"/>
                        <a14:foregroundMark x1="27986" y1="75000" x2="32082" y2="77000"/>
                        <a14:foregroundMark x1="25256" y1="77667" x2="37201" y2="76000"/>
                        <a14:foregroundMark x1="34812" y1="76333" x2="38567" y2="73000"/>
                        <a14:foregroundMark x1="40956" y1="76000" x2="42662" y2="65667"/>
                        <a14:foregroundMark x1="42662" y1="64000" x2="42321" y2="58333"/>
                        <a14:foregroundMark x1="41297" y1="53000" x2="43003" y2="55667"/>
                        <a14:foregroundMark x1="45392" y1="58667" x2="48464" y2="63333"/>
                        <a14:foregroundMark x1="47099" y1="60333" x2="51195" y2="70333"/>
                        <a14:foregroundMark x1="49829" y1="66333" x2="52218" y2="75333"/>
                        <a14:foregroundMark x1="52218" y1="75333" x2="52218" y2="65000"/>
                        <a14:foregroundMark x1="52218" y1="63333" x2="52218" y2="59667"/>
                        <a14:foregroundMark x1="50512" y1="68000" x2="52560" y2="63000"/>
                        <a14:foregroundMark x1="51536" y1="67667" x2="52560" y2="62000"/>
                        <a14:foregroundMark x1="52901" y1="68333" x2="53242" y2="62333"/>
                        <a14:foregroundMark x1="52560" y1="67000" x2="53242" y2="61000"/>
                        <a14:foregroundMark x1="52901" y1="59667" x2="53242" y2="55667"/>
                        <a14:foregroundMark x1="53242" y1="56000" x2="53242" y2="51000"/>
                        <a14:foregroundMark x1="52901" y1="54667" x2="52901" y2="51333"/>
                        <a14:foregroundMark x1="61092" y1="56667" x2="63481" y2="51000"/>
                        <a14:foregroundMark x1="65529" y1="51667" x2="69283" y2="53333"/>
                        <a14:foregroundMark x1="67918" y1="54000" x2="68601" y2="54333"/>
                        <a14:foregroundMark x1="48805" y1="34667" x2="53925" y2="30000"/>
                        <a14:foregroundMark x1="69625" y1="53000" x2="70648" y2="58000"/>
                        <a14:foregroundMark x1="61775" y1="54000" x2="59727" y2="61667"/>
                        <a14:foregroundMark x1="60068" y1="58000" x2="58703" y2="65333"/>
                        <a14:foregroundMark x1="58362" y1="57667" x2="58362" y2="65000"/>
                        <a14:foregroundMark x1="58020" y1="65333" x2="58362" y2="73000"/>
                        <a14:foregroundMark x1="56997" y1="68333" x2="61092" y2="73667"/>
                        <a14:foregroundMark x1="60068" y1="73667" x2="62799" y2="78000"/>
                        <a14:foregroundMark x1="61092" y1="76333" x2="66553" y2="76667"/>
                        <a14:foregroundMark x1="66553" y1="76667" x2="70648" y2="75333"/>
                        <a14:foregroundMark x1="70307" y1="76000" x2="69966" y2="69000"/>
                        <a14:foregroundMark x1="68942" y1="71333" x2="70307" y2="66000"/>
                        <a14:foregroundMark x1="69283" y1="66000" x2="70648" y2="62000"/>
                        <a14:foregroundMark x1="10239" y1="87333" x2="10239" y2="91000"/>
                        <a14:foregroundMark x1="9215" y1="85667" x2="9556" y2="84333"/>
                        <a14:foregroundMark x1="12287" y1="85333" x2="13311" y2="85667"/>
                        <a14:foregroundMark x1="17031" y1="87333" x2="17065" y2="87000"/>
                        <a14:foregroundMark x1="16724" y1="90333" x2="17031" y2="87333"/>
                        <a14:foregroundMark x1="17406" y1="85333" x2="17406" y2="85333"/>
                        <a14:foregroundMark x1="20478" y1="87333" x2="20819" y2="87667"/>
                        <a14:foregroundMark x1="20137" y1="85333" x2="20137" y2="85333"/>
                        <a14:foregroundMark x1="27304" y1="84333" x2="26280" y2="88333"/>
                        <a14:foregroundMark x1="32765" y1="84667" x2="32765" y2="92667"/>
                        <a14:foregroundMark x1="25939" y1="85333" x2="23208" y2="88333"/>
                        <a14:foregroundMark x1="22867" y1="87333" x2="24573" y2="91000"/>
                        <a14:foregroundMark x1="26962" y1="91000" x2="28669" y2="90667"/>
                        <a14:foregroundMark x1="28669" y1="90333" x2="28669" y2="88333"/>
                        <a14:foregroundMark x1="39932" y1="85333" x2="41980" y2="92667"/>
                        <a14:foregroundMark x1="39932" y1="86333" x2="41638" y2="86000"/>
                        <a14:foregroundMark x1="41638" y1="86000" x2="41638" y2="86000"/>
                        <a14:foregroundMark x1="37884" y1="86000" x2="38567" y2="89333"/>
                        <a14:foregroundMark x1="37884" y1="89333" x2="38225" y2="91667"/>
                        <a14:foregroundMark x1="32765" y1="85667" x2="34130" y2="86000"/>
                        <a14:foregroundMark x1="34812" y1="85667" x2="36177" y2="85667"/>
                        <a14:foregroundMark x1="41297" y1="85000" x2="42321" y2="85333"/>
                        <a14:foregroundMark x1="48464" y1="93333" x2="48805" y2="89667"/>
                        <a14:foregroundMark x1="48805" y1="88333" x2="49147" y2="87667"/>
                        <a14:foregroundMark x1="48805" y1="85667" x2="48805" y2="85667"/>
                        <a14:foregroundMark x1="48805" y1="86333" x2="49147" y2="89333"/>
                        <a14:foregroundMark x1="48805" y1="93000" x2="48464" y2="95333"/>
                        <a14:foregroundMark x1="48123" y1="95333" x2="48123" y2="95333"/>
                        <a14:foregroundMark x1="54949" y1="86333" x2="56314" y2="90333"/>
                        <a14:foregroundMark x1="56314" y1="90333" x2="56997" y2="91000"/>
                        <a14:foregroundMark x1="60410" y1="86667" x2="60410" y2="86667"/>
                        <a14:foregroundMark x1="63481" y1="86333" x2="65188" y2="86333"/>
                        <a14:foregroundMark x1="65870" y1="85333" x2="65529" y2="86000"/>
                        <a14:foregroundMark x1="65529" y1="86000" x2="66212" y2="86000"/>
                        <a14:foregroundMark x1="67235" y1="85667" x2="67235" y2="85667"/>
                        <a14:foregroundMark x1="66894" y1="86667" x2="66894" y2="86667"/>
                        <a14:foregroundMark x1="67577" y1="84333" x2="67577" y2="84333"/>
                        <a14:foregroundMark x1="71331" y1="87000" x2="71331" y2="87000"/>
                        <a14:foregroundMark x1="69625" y1="88333" x2="69625" y2="89000"/>
                        <a14:foregroundMark x1="70307" y1="90667" x2="70648" y2="91667"/>
                        <a14:foregroundMark x1="70648" y1="91667" x2="71672" y2="91667"/>
                        <a14:foregroundMark x1="70648" y1="86333" x2="70648" y2="86333"/>
                        <a14:foregroundMark x1="70307" y1="85667" x2="70307" y2="85667"/>
                        <a14:foregroundMark x1="71331" y1="85667" x2="72014" y2="85667"/>
                        <a14:foregroundMark x1="72355" y1="85667" x2="72355" y2="85667"/>
                        <a14:foregroundMark x1="78157" y1="86667" x2="78157" y2="86667"/>
                        <a14:foregroundMark x1="77474" y1="88333" x2="78157" y2="90000"/>
                        <a14:foregroundMark x1="79181" y1="90333" x2="81229" y2="91667"/>
                        <a14:foregroundMark x1="82935" y1="91667" x2="82935" y2="91667"/>
                        <a14:foregroundMark x1="81570" y1="89333" x2="81570" y2="89333"/>
                        <a14:foregroundMark x1="88396" y1="86000" x2="88396" y2="86000"/>
                        <a14:foregroundMark x1="87031" y1="85667" x2="87031" y2="85667"/>
                        <a14:foregroundMark x1="86007" y1="86667" x2="86348" y2="88000"/>
                        <a14:foregroundMark x1="84983" y1="91333" x2="84983" y2="91333"/>
                        <a14:backgroundMark x1="18430" y1="86667" x2="18430" y2="86667"/>
                        <a14:backgroundMark x1="11604" y1="87333" x2="11604" y2="87333"/>
                        <a14:backgroundMark x1="72014" y1="86667" x2="72014" y2="8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700" y="3471452"/>
            <a:ext cx="2118211" cy="23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dentidade Visual — Português (Brasil)">
            <a:extLst>
              <a:ext uri="{FF2B5EF4-FFF2-40B4-BE49-F238E27FC236}">
                <a16:creationId xmlns:a16="http://schemas.microsoft.com/office/drawing/2014/main" id="{172FC44B-2744-40CA-E9B3-27A929B63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779" y="3189570"/>
            <a:ext cx="2578568" cy="233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F5B66CB-F1BB-BFA6-3027-898B483AF4A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/>
          <a:stretch/>
        </p:blipFill>
        <p:spPr>
          <a:xfrm>
            <a:off x="6781800" y="3269720"/>
            <a:ext cx="1707053" cy="2330917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579CE430-D1A2-C3B1-36D9-24B7CB5FFB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6514" y="3189570"/>
            <a:ext cx="5269453" cy="2348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D05C9341-58AD-2380-C9BE-603653B4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5D5C90AF-B690-5129-A060-27217654A5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16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2" name="Google Shape;103;p2">
            <a:extLst>
              <a:ext uri="{FF2B5EF4-FFF2-40B4-BE49-F238E27FC236}">
                <a16:creationId xmlns:a16="http://schemas.microsoft.com/office/drawing/2014/main" id="{6EA7938F-1CA7-EECB-80D3-45AED363A355}"/>
              </a:ext>
            </a:extLst>
          </p:cNvPr>
          <p:cNvSpPr txBox="1"/>
          <p:nvPr/>
        </p:nvSpPr>
        <p:spPr>
          <a:xfrm>
            <a:off x="1028700" y="631768"/>
            <a:ext cx="1541526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Three-dimensional finite element simulations</a:t>
            </a:r>
            <a:endParaRPr sz="1000" b="1" dirty="0"/>
          </a:p>
        </p:txBody>
      </p:sp>
      <p:sp>
        <p:nvSpPr>
          <p:cNvPr id="7" name="Google Shape;128;p4">
            <a:extLst>
              <a:ext uri="{FF2B5EF4-FFF2-40B4-BE49-F238E27FC236}">
                <a16:creationId xmlns:a16="http://schemas.microsoft.com/office/drawing/2014/main" id="{6FE4628F-1C80-7C67-5E90-320DAB90878B}"/>
              </a:ext>
            </a:extLst>
          </p:cNvPr>
          <p:cNvSpPr txBox="1"/>
          <p:nvPr/>
        </p:nvSpPr>
        <p:spPr>
          <a:xfrm>
            <a:off x="499657" y="2013966"/>
            <a:ext cx="15415259" cy="827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Elastic lining higher pressures (see all Figures);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Long-term higher pressures (see all Figures);</a:t>
            </a:r>
          </a:p>
          <a:p>
            <a:pPr marL="45720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general, the lining pressures remain close to the reference value 𝑝(𝜃 = 90º), except in the range 0º &lt; 𝜃 &lt; 60º, where a significant increase is observed (see Fig. (b));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Horizontal </a:t>
            </a:r>
            <a:r>
              <a:rPr lang="en-US" sz="3200" dirty="0" err="1"/>
              <a:t>ovalization</a:t>
            </a:r>
            <a:r>
              <a:rPr lang="en-US" sz="3200" dirty="0"/>
              <a:t> tunnel wall induced higher pressures at the lateral sides of tunnel wall (𝜃 = 0º and 180</a:t>
            </a:r>
            <a:r>
              <a:rPr lang="en-US" sz="3200" baseline="30000" dirty="0"/>
              <a:t>º</a:t>
            </a:r>
            <a:r>
              <a:rPr lang="en-US" sz="3200" dirty="0"/>
              <a:t>);</a:t>
            </a:r>
          </a:p>
          <a:p>
            <a:pPr marL="45720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pt-BR" sz="3200" dirty="0"/>
              <a:t>The </a:t>
            </a:r>
            <a:r>
              <a:rPr lang="pt-BR" sz="3200" dirty="0" err="1"/>
              <a:t>friction</a:t>
            </a:r>
            <a:r>
              <a:rPr lang="pt-BR" sz="3200" dirty="0"/>
              <a:t> </a:t>
            </a:r>
            <a:r>
              <a:rPr lang="pt-BR" sz="3200" dirty="0" err="1"/>
              <a:t>angle</a:t>
            </a:r>
            <a:r>
              <a:rPr lang="pt-BR" sz="3200" dirty="0"/>
              <a:t> </a:t>
            </a:r>
            <a:r>
              <a:rPr lang="pt-BR" sz="3200" dirty="0" err="1"/>
              <a:t>significantly</a:t>
            </a:r>
            <a:r>
              <a:rPr lang="pt-BR" sz="3200" dirty="0"/>
              <a:t> </a:t>
            </a:r>
            <a:r>
              <a:rPr lang="pt-BR" sz="3200" dirty="0" err="1"/>
              <a:t>affect</a:t>
            </a:r>
            <a:r>
              <a:rPr lang="pt-BR" sz="3200" dirty="0"/>
              <a:t> </a:t>
            </a:r>
            <a:r>
              <a:rPr lang="pt-BR" sz="3200" dirty="0" err="1"/>
              <a:t>pressure</a:t>
            </a:r>
            <a:r>
              <a:rPr lang="pt-BR" sz="3200" dirty="0"/>
              <a:t> </a:t>
            </a:r>
            <a:r>
              <a:rPr lang="pt-BR" sz="3200" dirty="0" err="1"/>
              <a:t>distribution</a:t>
            </a:r>
            <a:r>
              <a:rPr lang="pt-BR" sz="3200" dirty="0"/>
              <a:t> in S2, </a:t>
            </a:r>
            <a:r>
              <a:rPr lang="pt-BR" sz="3200" dirty="0" err="1"/>
              <a:t>particularly</a:t>
            </a:r>
            <a:r>
              <a:rPr lang="pt-BR" sz="3200" dirty="0"/>
              <a:t> for 3</a:t>
            </a:r>
            <a:r>
              <a:rPr lang="en-US" sz="3200" dirty="0"/>
              <a:t>0º &lt; 𝜃 &lt; 90º at end of construction</a:t>
            </a:r>
            <a:r>
              <a:rPr lang="pt-BR" sz="3200" dirty="0"/>
              <a:t>;</a:t>
            </a: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pt-BR" sz="3200" dirty="0" err="1"/>
              <a:t>Higher</a:t>
            </a:r>
            <a:r>
              <a:rPr lang="pt-BR" sz="3200" dirty="0"/>
              <a:t> </a:t>
            </a:r>
            <a:r>
              <a:rPr lang="pt-BR" sz="3200" dirty="0" err="1"/>
              <a:t>friction</a:t>
            </a:r>
            <a:r>
              <a:rPr lang="pt-BR" sz="3200" dirty="0"/>
              <a:t> </a:t>
            </a:r>
            <a:r>
              <a:rPr lang="pt-BR" sz="3200" dirty="0" err="1"/>
              <a:t>angles</a:t>
            </a:r>
            <a:r>
              <a:rPr lang="pt-BR" sz="3200" dirty="0"/>
              <a:t> </a:t>
            </a:r>
            <a:r>
              <a:rPr lang="pt-BR" sz="3200" dirty="0" err="1"/>
              <a:t>decrease</a:t>
            </a:r>
            <a:r>
              <a:rPr lang="pt-BR" sz="3200" dirty="0"/>
              <a:t> </a:t>
            </a:r>
            <a:r>
              <a:rPr lang="pt-BR" sz="3200" dirty="0" err="1"/>
              <a:t>pressures</a:t>
            </a:r>
            <a:r>
              <a:rPr lang="pt-BR" sz="3200" dirty="0"/>
              <a:t> </a:t>
            </a:r>
            <a:r>
              <a:rPr lang="pt-BR" sz="3200" dirty="0" err="1"/>
              <a:t>above</a:t>
            </a:r>
            <a:r>
              <a:rPr lang="pt-BR" sz="3200" dirty="0"/>
              <a:t> the </a:t>
            </a:r>
            <a:r>
              <a:rPr lang="pt-BR" sz="3200" dirty="0" err="1"/>
              <a:t>gallery</a:t>
            </a:r>
            <a:r>
              <a:rPr lang="pt-BR" sz="3200" dirty="0"/>
              <a:t> entrance. More </a:t>
            </a:r>
            <a:r>
              <a:rPr lang="pt-BR" sz="3200" dirty="0" err="1"/>
              <a:t>differences</a:t>
            </a:r>
            <a:r>
              <a:rPr lang="pt-BR" sz="3200" dirty="0"/>
              <a:t>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</a:t>
            </a:r>
            <a:r>
              <a:rPr lang="pt-BR" sz="3200" dirty="0" err="1"/>
              <a:t>end</a:t>
            </a:r>
            <a:r>
              <a:rPr lang="pt-BR" sz="3200" dirty="0"/>
              <a:t>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contruction</a:t>
            </a:r>
            <a:r>
              <a:rPr lang="pt-BR" sz="3200" dirty="0"/>
              <a:t>;</a:t>
            </a:r>
            <a:endParaRPr lang="en-US" sz="3200" dirty="0"/>
          </a:p>
          <a:p>
            <a:pPr lvl="0" algn="just">
              <a:lnSpc>
                <a:spcPct val="14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34695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8678D250-D78E-3CB2-8C45-05A772D4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A001D80A-E2E8-80FC-778A-CCDBBE2543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701146" y="157461"/>
            <a:ext cx="41625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17</a:t>
            </a:fld>
            <a:endParaRPr lang="en-US" sz="1800" dirty="0">
              <a:solidFill>
                <a:srgbClr val="FFF4F3"/>
              </a:solidFill>
            </a:endParaRPr>
          </a:p>
        </p:txBody>
      </p:sp>
      <p:sp>
        <p:nvSpPr>
          <p:cNvPr id="6" name="Google Shape;103;p2">
            <a:extLst>
              <a:ext uri="{FF2B5EF4-FFF2-40B4-BE49-F238E27FC236}">
                <a16:creationId xmlns:a16="http://schemas.microsoft.com/office/drawing/2014/main" id="{2B4C6B84-8A96-7D68-CB1E-CF8343C4EA7E}"/>
              </a:ext>
            </a:extLst>
          </p:cNvPr>
          <p:cNvSpPr txBox="1"/>
          <p:nvPr/>
        </p:nvSpPr>
        <p:spPr>
          <a:xfrm>
            <a:off x="1028700" y="631768"/>
            <a:ext cx="1456182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42" b="1" i="0" u="none" strike="noStrike" cap="none" dirty="0">
                <a:solidFill>
                  <a:srgbClr val="6C1860"/>
                </a:solidFill>
                <a:latin typeface="Arial"/>
                <a:ea typeface="Arial"/>
                <a:cs typeface="Arial"/>
                <a:sym typeface="Arial"/>
              </a:rPr>
              <a:t>Research problem</a:t>
            </a:r>
            <a:endParaRPr b="1" dirty="0"/>
          </a:p>
        </p:txBody>
      </p:sp>
      <p:sp>
        <p:nvSpPr>
          <p:cNvPr id="3" name="Google Shape;104;p2">
            <a:extLst>
              <a:ext uri="{FF2B5EF4-FFF2-40B4-BE49-F238E27FC236}">
                <a16:creationId xmlns:a16="http://schemas.microsoft.com/office/drawing/2014/main" id="{8360EDA8-7B82-56F9-97C3-D9B637E783C9}"/>
              </a:ext>
            </a:extLst>
          </p:cNvPr>
          <p:cNvSpPr txBox="1"/>
          <p:nvPr/>
        </p:nvSpPr>
        <p:spPr>
          <a:xfrm>
            <a:off x="1028700" y="2703385"/>
            <a:ext cx="14135745" cy="758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excavation of a transverse gallery significantly modifies the stress field around the main tunnels;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This modification causes an overload on the main tunnel linings;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Quantifying this additional load is essential for defining structural reinforcements in this region and ensuring the safety of the tunnel system.;</a:t>
            </a:r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lvl="0" indent="-457200" algn="just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Therefore: How does the construction of the gallery affect the distribution of pressures on the lining?</a:t>
            </a:r>
          </a:p>
          <a:p>
            <a:pPr lvl="0" algn="just">
              <a:lnSpc>
                <a:spcPct val="14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98984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B9D21A7E-A34F-08CA-7E1D-EACE7509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Google Shape;128;p4">
                <a:extLst>
                  <a:ext uri="{FF2B5EF4-FFF2-40B4-BE49-F238E27FC236}">
                    <a16:creationId xmlns:a16="http://schemas.microsoft.com/office/drawing/2014/main" id="{F4D6A966-2F4C-0108-C1DE-13EDEA47433E}"/>
                  </a:ext>
                </a:extLst>
              </p:cNvPr>
              <p:cNvSpPr txBox="1"/>
              <p:nvPr/>
            </p:nvSpPr>
            <p:spPr>
              <a:xfrm>
                <a:off x="1028701" y="2292600"/>
                <a:ext cx="8298180" cy="6894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200" b="1" dirty="0"/>
                  <a:t>Chortis and Kavvadas (2023):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Generalized Hoek–Brown criterion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Shotcrete lining: shell elements</a:t>
                </a:r>
              </a:p>
              <a:p>
                <a:pPr lvl="0" algn="just">
                  <a:lnSpc>
                    <a:spcPct val="140000"/>
                  </a:lnSpc>
                </a:pPr>
                <a:endParaRPr lang="en-US" sz="3200" dirty="0"/>
              </a:p>
              <a:p>
                <a:pPr lvl="0" algn="just">
                  <a:lnSpc>
                    <a:spcPct val="140000"/>
                  </a:lnSpc>
                </a:pPr>
                <a:r>
                  <a:rPr lang="en-US" sz="3200" b="1" dirty="0"/>
                  <a:t>Present study: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Hoek-Brown criterion approximated by the Mohr-Coulomb criterion:</a:t>
                </a:r>
              </a:p>
              <a:p>
                <a:pPr lvl="0" algn="just">
                  <a:lnSpc>
                    <a:spcPct val="140000"/>
                  </a:lnSpc>
                </a:pPr>
                <a:r>
                  <a:rPr lang="en-US" sz="3200" dirty="0"/>
                  <a:t>		Cohesion (</a:t>
                </a:r>
                <a14:m>
                  <m:oMath xmlns:m="http://schemas.openxmlformats.org/officeDocument/2006/math">
                    <m:r>
                      <a:rPr lang="pt-BR" sz="32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/>
                  <a:t>) = 0.14 MPa </a:t>
                </a:r>
              </a:p>
              <a:p>
                <a:pPr lvl="0" algn="just">
                  <a:lnSpc>
                    <a:spcPct val="140000"/>
                  </a:lnSpc>
                </a:pPr>
                <a:r>
                  <a:rPr lang="en-US" sz="3200" dirty="0"/>
                  <a:t>		Friction angle (</a:t>
                </a:r>
                <a14:m>
                  <m:oMath xmlns:m="http://schemas.openxmlformats.org/officeDocument/2006/math">
                    <m:r>
                      <a:rPr lang="pt-BR" sz="32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3200" dirty="0"/>
                  <a:t>) = 28.72º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Shotcrete lining: solid elements</a:t>
                </a:r>
              </a:p>
            </p:txBody>
          </p:sp>
        </mc:Choice>
        <mc:Fallback xmlns="">
          <p:sp>
            <p:nvSpPr>
              <p:cNvPr id="128" name="Google Shape;128;p4">
                <a:extLst>
                  <a:ext uri="{FF2B5EF4-FFF2-40B4-BE49-F238E27FC236}">
                    <a16:creationId xmlns:a16="http://schemas.microsoft.com/office/drawing/2014/main" id="{F4D6A966-2F4C-0108-C1DE-13EDEA474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1" y="2292600"/>
                <a:ext cx="8298180" cy="6894195"/>
              </a:xfrm>
              <a:prstGeom prst="rect">
                <a:avLst/>
              </a:prstGeom>
              <a:blipFill>
                <a:blip r:embed="rId4"/>
                <a:stretch>
                  <a:fillRect l="-3012" t="-88" r="-2939" b="-1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FCCDEC6E-D844-C30F-E788-919B1D0238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18</a:t>
            </a:fld>
            <a:endParaRPr lang="en-US" sz="1800" dirty="0">
              <a:solidFill>
                <a:srgbClr val="FFF4F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2DA22412-1A08-3563-F4C1-94D9D2A3CD3A}"/>
                  </a:ext>
                </a:extLst>
              </p:cNvPr>
              <p:cNvSpPr txBox="1"/>
              <p:nvPr/>
            </p:nvSpPr>
            <p:spPr>
              <a:xfrm>
                <a:off x="10629898" y="2110481"/>
                <a:ext cx="5021580" cy="1991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Geometry: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=1.33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Google Shape;128;p4">
                <a:extLst>
                  <a:ext uri="{FF2B5EF4-FFF2-40B4-BE49-F238E27FC236}">
                    <a16:creationId xmlns:a16="http://schemas.microsoft.com/office/drawing/2014/main" id="{2DA22412-1A08-3563-F4C1-94D9D2A3C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898" y="2110481"/>
                <a:ext cx="5021580" cy="1991507"/>
              </a:xfrm>
              <a:prstGeom prst="rect">
                <a:avLst/>
              </a:prstGeom>
              <a:blipFill>
                <a:blip r:embed="rId5"/>
                <a:stretch>
                  <a:fillRect l="-4739" t="-6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45B82A85-A441-EAAA-2A74-8279879B7438}"/>
                  </a:ext>
                </a:extLst>
              </p:cNvPr>
              <p:cNvSpPr txBox="1"/>
              <p:nvPr/>
            </p:nvSpPr>
            <p:spPr>
              <a:xfrm>
                <a:off x="10629898" y="7656287"/>
                <a:ext cx="5021580" cy="1998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/>
                  <a:t>Lining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pt-BR" sz="3000" b="0" i="1" smtClean="0">
                                <a:latin typeface="Cambria Math" panose="02040503050406030204" pitchFamily="18" charset="0"/>
                              </a:rPr>
                              <m:t>28</m:t>
                            </m:r>
                          </m:sub>
                        </m:sSub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=20 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GP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</m:t>
                    </m:r>
                  </m:oMath>
                </a14:m>
                <a:r>
                  <a:rPr lang="en-US" sz="3000" dirty="0"/>
                  <a:t>2</a:t>
                </a:r>
              </a:p>
            </p:txBody>
          </p:sp>
        </mc:Choice>
        <mc:Fallback xmlns="">
          <p:sp>
            <p:nvSpPr>
              <p:cNvPr id="4" name="Google Shape;128;p4">
                <a:extLst>
                  <a:ext uri="{FF2B5EF4-FFF2-40B4-BE49-F238E27FC236}">
                    <a16:creationId xmlns:a16="http://schemas.microsoft.com/office/drawing/2014/main" id="{45B82A85-A441-EAAA-2A74-8279879B7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898" y="7656287"/>
                <a:ext cx="5021580" cy="1998945"/>
              </a:xfrm>
              <a:prstGeom prst="rect">
                <a:avLst/>
              </a:prstGeom>
              <a:blipFill>
                <a:blip r:embed="rId6"/>
                <a:stretch>
                  <a:fillRect l="-4739" t="-915" b="-67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28;p4">
                <a:extLst>
                  <a:ext uri="{FF2B5EF4-FFF2-40B4-BE49-F238E27FC236}">
                    <a16:creationId xmlns:a16="http://schemas.microsoft.com/office/drawing/2014/main" id="{66700CF0-E1D8-1C71-F944-93697EA4ACD6}"/>
                  </a:ext>
                </a:extLst>
              </p:cNvPr>
              <p:cNvSpPr txBox="1"/>
              <p:nvPr/>
            </p:nvSpPr>
            <p:spPr>
              <a:xfrm>
                <a:off x="10629898" y="4909641"/>
                <a:ext cx="5021580" cy="258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 algn="just">
                  <a:lnSpc>
                    <a:spcPct val="140000"/>
                  </a:lnSpc>
                </a:pPr>
                <a:r>
                  <a:rPr lang="en-US" sz="3000" b="1" dirty="0" err="1"/>
                  <a:t>Rockmass</a:t>
                </a:r>
                <a:r>
                  <a:rPr lang="en-US" sz="3000" b="1" dirty="0"/>
                  <a:t> model data:</a:t>
                </a:r>
              </a:p>
              <a:p>
                <a:pPr marL="457200" lvl="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=562 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 sz="30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pt-BR" sz="300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pt-BR" sz="3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0,3</m:t>
                    </m:r>
                  </m:oMath>
                </a14:m>
                <a:endParaRPr lang="en-US" sz="3000" dirty="0"/>
              </a:p>
              <a:p>
                <a:pPr marL="457200" indent="-457200" algn="just">
                  <a:lnSpc>
                    <a:spcPct val="14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pt-BR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pt-BR" sz="3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pt-BR" sz="3000" i="1">
                        <a:latin typeface="Cambria Math" panose="02040503050406030204" pitchFamily="18" charset="0"/>
                      </a:rPr>
                      <m:t>=2 </m:t>
                    </m:r>
                    <m:r>
                      <m:rPr>
                        <m:nor/>
                      </m:rPr>
                      <a:rPr lang="pt-BR" sz="3000">
                        <a:latin typeface="Cambria Math" panose="02040503050406030204" pitchFamily="18" charset="0"/>
                      </a:rPr>
                      <m:t>MPa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Google Shape;128;p4">
                <a:extLst>
                  <a:ext uri="{FF2B5EF4-FFF2-40B4-BE49-F238E27FC236}">
                    <a16:creationId xmlns:a16="http://schemas.microsoft.com/office/drawing/2014/main" id="{66700CF0-E1D8-1C71-F944-93697EA4A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9898" y="4909641"/>
                <a:ext cx="5021580" cy="2585323"/>
              </a:xfrm>
              <a:prstGeom prst="rect">
                <a:avLst/>
              </a:prstGeom>
              <a:blipFill>
                <a:blip r:embed="rId7"/>
                <a:stretch>
                  <a:fillRect l="-4739" t="-4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03;p2">
            <a:extLst>
              <a:ext uri="{FF2B5EF4-FFF2-40B4-BE49-F238E27FC236}">
                <a16:creationId xmlns:a16="http://schemas.microsoft.com/office/drawing/2014/main" id="{C9F7AB8B-64D0-B525-6185-0606BDA1B8A1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89"/>
              </a:lnSpc>
            </a:pPr>
            <a:r>
              <a:rPr lang="en-US" sz="7542" b="1" dirty="0">
                <a:solidFill>
                  <a:srgbClr val="6C1860"/>
                </a:solidFill>
              </a:rPr>
              <a:t>Preliminary verification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25044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746151DA-6486-E5E3-BA2B-676DD4CC7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>
            <a:extLst>
              <a:ext uri="{FF2B5EF4-FFF2-40B4-BE49-F238E27FC236}">
                <a16:creationId xmlns:a16="http://schemas.microsoft.com/office/drawing/2014/main" id="{E11BE11C-E5F1-E4FA-49C4-759D8C652B2C}"/>
              </a:ext>
            </a:extLst>
          </p:cNvPr>
          <p:cNvSpPr txBox="1"/>
          <p:nvPr/>
        </p:nvSpPr>
        <p:spPr>
          <a:xfrm>
            <a:off x="10300827" y="2256636"/>
            <a:ext cx="5182245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3000" dirty="0"/>
              <a:t>The purpose is to verify the model’s ability to simulate the </a:t>
            </a:r>
            <a:r>
              <a:rPr lang="en-US" sz="3000" b="1" dirty="0"/>
              <a:t>internal forces </a:t>
            </a:r>
            <a:r>
              <a:rPr lang="en-US" sz="3000" dirty="0"/>
              <a:t>induced in the tunnel lining by the transverse gallery.</a:t>
            </a:r>
            <a:endParaRPr sz="3000" dirty="0"/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95EE8D34-5D42-1BA0-5213-69D6A0435D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7541240" y="157461"/>
            <a:ext cx="576163" cy="36069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smtClean="0">
                <a:solidFill>
                  <a:srgbClr val="FFF4F3"/>
                </a:solidFill>
              </a:rPr>
              <a:t>19</a:t>
            </a:fld>
            <a:endParaRPr lang="en-US" sz="1800" dirty="0">
              <a:solidFill>
                <a:srgbClr val="FFF4F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9FDEBCD-8CC1-6916-1319-4D7F1EBFF4B5}"/>
                  </a:ext>
                </a:extLst>
              </p:cNvPr>
              <p:cNvSpPr txBox="1"/>
              <p:nvPr/>
            </p:nvSpPr>
            <p:spPr>
              <a:xfrm>
                <a:off x="11655953" y="5894088"/>
                <a:ext cx="2167196" cy="1131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3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pt-BR" sz="3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9FDEBCD-8CC1-6916-1319-4D7F1EBFF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5953" y="5894088"/>
                <a:ext cx="2167196" cy="1131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128;p4">
            <a:extLst>
              <a:ext uri="{FF2B5EF4-FFF2-40B4-BE49-F238E27FC236}">
                <a16:creationId xmlns:a16="http://schemas.microsoft.com/office/drawing/2014/main" id="{17F73231-C72D-7F36-5568-F90929098056}"/>
              </a:ext>
            </a:extLst>
          </p:cNvPr>
          <p:cNvSpPr txBox="1"/>
          <p:nvPr/>
        </p:nvSpPr>
        <p:spPr>
          <a:xfrm>
            <a:off x="10300828" y="7431159"/>
            <a:ext cx="518224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S/D </a:t>
            </a:r>
            <a:r>
              <a:rPr lang="en-US" sz="3000" dirty="0"/>
              <a:t>is the normalized longitudinal distance from the center of the intersection zone</a:t>
            </a:r>
            <a:endParaRPr sz="3000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D6DFCD6-CD8C-4B51-00D2-A0F5F23C7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941" y="2333651"/>
            <a:ext cx="9641985" cy="7333679"/>
          </a:xfrm>
          <a:prstGeom prst="rect">
            <a:avLst/>
          </a:prstGeom>
        </p:spPr>
      </p:pic>
      <p:sp>
        <p:nvSpPr>
          <p:cNvPr id="4" name="Google Shape;103;p2">
            <a:extLst>
              <a:ext uri="{FF2B5EF4-FFF2-40B4-BE49-F238E27FC236}">
                <a16:creationId xmlns:a16="http://schemas.microsoft.com/office/drawing/2014/main" id="{77E67B4C-8B2E-292D-CDCF-BAB327A2CC0D}"/>
              </a:ext>
            </a:extLst>
          </p:cNvPr>
          <p:cNvSpPr txBox="1"/>
          <p:nvPr/>
        </p:nvSpPr>
        <p:spPr>
          <a:xfrm>
            <a:off x="1028700" y="631768"/>
            <a:ext cx="15064740" cy="162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89"/>
              </a:lnSpc>
            </a:pPr>
            <a:r>
              <a:rPr lang="en-US" sz="7542" b="1" dirty="0">
                <a:solidFill>
                  <a:srgbClr val="6C1860"/>
                </a:solidFill>
              </a:rPr>
              <a:t>Preliminary verification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32192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834</Words>
  <Application>Microsoft Office PowerPoint</Application>
  <PresentationFormat>Personalizar</PresentationFormat>
  <Paragraphs>134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Victor Fragoso Dias</dc:creator>
  <cp:lastModifiedBy>Felipe Quevedo</cp:lastModifiedBy>
  <cp:revision>12</cp:revision>
  <dcterms:created xsi:type="dcterms:W3CDTF">2006-08-16T00:00:00Z</dcterms:created>
  <dcterms:modified xsi:type="dcterms:W3CDTF">2025-11-27T12:28:01Z</dcterms:modified>
</cp:coreProperties>
</file>